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9"/>
    </p:embeddedFont>
    <p:embeddedFont>
      <p:font typeface="Source Sans 3" charset="1" panose="020B0303030403020204"/>
      <p:regular r:id="rId20"/>
    </p:embeddedFont>
    <p:embeddedFont>
      <p:font typeface="Montserrat Light" charset="1" panose="000004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1.png" Type="http://schemas.openxmlformats.org/officeDocument/2006/relationships/image"/><Relationship Id="rId6" Target="../media/image2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4191" y="777030"/>
            <a:ext cx="6549476" cy="8732787"/>
            <a:chOff x="0" y="0"/>
            <a:chExt cx="8732634" cy="1164371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32647" cy="11643741"/>
            </a:xfrm>
            <a:custGeom>
              <a:avLst/>
              <a:gdLst/>
              <a:ahLst/>
              <a:cxnLst/>
              <a:rect r="r" b="b" t="t" l="l"/>
              <a:pathLst>
                <a:path h="11643741" w="8732647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9744" y="2865091"/>
            <a:ext cx="9270502" cy="266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ClarityAI: Redefining Forensic Video Intelligence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9744" y="5919492"/>
            <a:ext cx="9270502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An AI-powered forensic enhancement platform that transforms degraded CCTV footage into court-admissible evidence through advanced super-resolution and facial reconstruction techniques.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4191" y="777030"/>
            <a:ext cx="6549476" cy="8732787"/>
            <a:chOff x="0" y="0"/>
            <a:chExt cx="8732634" cy="1164371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32647" cy="11643741"/>
            </a:xfrm>
            <a:custGeom>
              <a:avLst/>
              <a:gdLst/>
              <a:ahLst/>
              <a:cxnLst/>
              <a:rect r="r" b="b" t="t" l="l"/>
              <a:pathLst>
                <a:path h="11643741" w="8732647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9744" y="964854"/>
            <a:ext cx="9270502" cy="266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Forensic Gap: Traditional CCTV Limitations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9744" y="4394444"/>
            <a:ext cx="3506095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Critical Challenges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9744" y="5074596"/>
            <a:ext cx="4258866" cy="410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Severe motion blur from fast-moving subjects</a:t>
            </a:r>
          </a:p>
          <a:p>
            <a:pPr algn="l" marL="579120" indent="-28956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Sub-SD resolutions (320x240 and below)</a:t>
            </a:r>
          </a:p>
          <a:p>
            <a:pPr algn="l" marL="579120" indent="-28956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Extreme pixelation from digital zoom</a:t>
            </a:r>
          </a:p>
          <a:p>
            <a:pPr algn="l" marL="579120" indent="-28956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Noise corruption from low-light sensors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00915" y="4394444"/>
            <a:ext cx="3564579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Operational Impact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00915" y="5074596"/>
            <a:ext cx="4258866" cy="331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Without clear visual evidence, investigations stall. Traditional enhancement software cannot recover lost high-frequency detail—creating a critical gap between what cameras capture and what investigators need.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6112" y="828970"/>
            <a:ext cx="7686227" cy="877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2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ClarityAI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6112" y="2219030"/>
            <a:ext cx="16195777" cy="948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3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An end-to-end enhancement pipeline combining state-of-the-art deep learning models to reconstruct forensic-grade video from severely degraded source material.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6112" y="3493589"/>
            <a:ext cx="7953080" cy="2823124"/>
            <a:chOff x="0" y="0"/>
            <a:chExt cx="10604106" cy="37641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04119" cy="3764153"/>
            </a:xfrm>
            <a:custGeom>
              <a:avLst/>
              <a:gdLst/>
              <a:ahLst/>
              <a:cxnLst/>
              <a:rect r="r" b="b" t="t" l="l"/>
              <a:pathLst>
                <a:path h="3764153" w="1060411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0544302" y="0"/>
                  </a:lnTo>
                  <a:cubicBezTo>
                    <a:pt x="10577322" y="0"/>
                    <a:pt x="10604119" y="26797"/>
                    <a:pt x="10604119" y="59817"/>
                  </a:cubicBezTo>
                  <a:lnTo>
                    <a:pt x="10604119" y="3704336"/>
                  </a:lnTo>
                  <a:cubicBezTo>
                    <a:pt x="10604119" y="3737356"/>
                    <a:pt x="10577322" y="3764153"/>
                    <a:pt x="10544302" y="3764153"/>
                  </a:cubicBezTo>
                  <a:lnTo>
                    <a:pt x="59817" y="3764153"/>
                  </a:lnTo>
                  <a:cubicBezTo>
                    <a:pt x="26797" y="3764153"/>
                    <a:pt x="0" y="3737356"/>
                    <a:pt x="0" y="3704336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4959" y="3792436"/>
            <a:ext cx="896693" cy="896693"/>
            <a:chOff x="0" y="0"/>
            <a:chExt cx="1195591" cy="11955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95578" cy="1195578"/>
            </a:xfrm>
            <a:custGeom>
              <a:avLst/>
              <a:gdLst/>
              <a:ahLst/>
              <a:cxnLst/>
              <a:rect r="r" b="b" t="t" l="l"/>
              <a:pathLst>
                <a:path h="1195578" w="1195578">
                  <a:moveTo>
                    <a:pt x="0" y="597789"/>
                  </a:moveTo>
                  <a:cubicBezTo>
                    <a:pt x="0" y="267589"/>
                    <a:pt x="267589" y="0"/>
                    <a:pt x="597789" y="0"/>
                  </a:cubicBezTo>
                  <a:cubicBezTo>
                    <a:pt x="927989" y="0"/>
                    <a:pt x="1195578" y="267589"/>
                    <a:pt x="1195578" y="597789"/>
                  </a:cubicBezTo>
                  <a:cubicBezTo>
                    <a:pt x="1195578" y="927989"/>
                    <a:pt x="927989" y="1195578"/>
                    <a:pt x="597789" y="1195578"/>
                  </a:cubicBezTo>
                  <a:cubicBezTo>
                    <a:pt x="267589" y="1195578"/>
                    <a:pt x="0" y="927989"/>
                    <a:pt x="0" y="597789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91570" y="4039048"/>
            <a:ext cx="403469" cy="403469"/>
          </a:xfrm>
          <a:custGeom>
            <a:avLst/>
            <a:gdLst/>
            <a:ahLst/>
            <a:cxnLst/>
            <a:rect r="r" b="b" t="t" l="l"/>
            <a:pathLst>
              <a:path h="403469" w="403469">
                <a:moveTo>
                  <a:pt x="0" y="0"/>
                </a:moveTo>
                <a:lnTo>
                  <a:pt x="403470" y="0"/>
                </a:lnTo>
                <a:lnTo>
                  <a:pt x="403470" y="403469"/>
                </a:lnTo>
                <a:lnTo>
                  <a:pt x="0" y="403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419" t="0" r="-2441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44959" y="4959544"/>
            <a:ext cx="3396558" cy="443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Input Processing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959" y="5510060"/>
            <a:ext cx="7355386" cy="507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3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Adaptive frame extraction with intelligent sampling rates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88656" y="3493589"/>
            <a:ext cx="7953223" cy="2823124"/>
            <a:chOff x="0" y="0"/>
            <a:chExt cx="10604297" cy="37641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04374" cy="3764153"/>
            </a:xfrm>
            <a:custGeom>
              <a:avLst/>
              <a:gdLst/>
              <a:ahLst/>
              <a:cxnLst/>
              <a:rect r="r" b="b" t="t" l="l"/>
              <a:pathLst>
                <a:path h="3764153" w="10604374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0544556" y="0"/>
                  </a:lnTo>
                  <a:cubicBezTo>
                    <a:pt x="10577576" y="0"/>
                    <a:pt x="10604374" y="26797"/>
                    <a:pt x="10604374" y="59817"/>
                  </a:cubicBezTo>
                  <a:lnTo>
                    <a:pt x="10604374" y="3704336"/>
                  </a:lnTo>
                  <a:cubicBezTo>
                    <a:pt x="10604374" y="3737356"/>
                    <a:pt x="10577576" y="3764153"/>
                    <a:pt x="10544556" y="3764153"/>
                  </a:cubicBezTo>
                  <a:lnTo>
                    <a:pt x="59817" y="3764153"/>
                  </a:lnTo>
                  <a:cubicBezTo>
                    <a:pt x="26797" y="3764153"/>
                    <a:pt x="0" y="3737356"/>
                    <a:pt x="0" y="3704336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87513" y="3792436"/>
            <a:ext cx="896693" cy="896693"/>
            <a:chOff x="0" y="0"/>
            <a:chExt cx="1195591" cy="11955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95578" cy="1195578"/>
            </a:xfrm>
            <a:custGeom>
              <a:avLst/>
              <a:gdLst/>
              <a:ahLst/>
              <a:cxnLst/>
              <a:rect r="r" b="b" t="t" l="l"/>
              <a:pathLst>
                <a:path h="1195578" w="1195578">
                  <a:moveTo>
                    <a:pt x="0" y="597789"/>
                  </a:moveTo>
                  <a:cubicBezTo>
                    <a:pt x="0" y="267589"/>
                    <a:pt x="267589" y="0"/>
                    <a:pt x="597789" y="0"/>
                  </a:cubicBezTo>
                  <a:cubicBezTo>
                    <a:pt x="927989" y="0"/>
                    <a:pt x="1195578" y="267589"/>
                    <a:pt x="1195578" y="597789"/>
                  </a:cubicBezTo>
                  <a:cubicBezTo>
                    <a:pt x="1195578" y="927989"/>
                    <a:pt x="927989" y="1195578"/>
                    <a:pt x="597789" y="1195578"/>
                  </a:cubicBezTo>
                  <a:cubicBezTo>
                    <a:pt x="267589" y="1195578"/>
                    <a:pt x="0" y="927989"/>
                    <a:pt x="0" y="597789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834115" y="4039048"/>
            <a:ext cx="403469" cy="403469"/>
          </a:xfrm>
          <a:custGeom>
            <a:avLst/>
            <a:gdLst/>
            <a:ahLst/>
            <a:cxnLst/>
            <a:rect r="r" b="b" t="t" l="l"/>
            <a:pathLst>
              <a:path h="403469" w="403469">
                <a:moveTo>
                  <a:pt x="0" y="0"/>
                </a:moveTo>
                <a:lnTo>
                  <a:pt x="403469" y="0"/>
                </a:lnTo>
                <a:lnTo>
                  <a:pt x="403469" y="403469"/>
                </a:lnTo>
                <a:lnTo>
                  <a:pt x="0" y="4034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587513" y="4959544"/>
            <a:ext cx="3396558" cy="443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Super-Resolution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87513" y="5510060"/>
            <a:ext cx="7355529" cy="507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3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RealESRGAN x2/x4 upscaling with texture hallucination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46112" y="6606178"/>
            <a:ext cx="7953080" cy="2823124"/>
            <a:chOff x="0" y="0"/>
            <a:chExt cx="10604106" cy="37641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04119" cy="3764153"/>
            </a:xfrm>
            <a:custGeom>
              <a:avLst/>
              <a:gdLst/>
              <a:ahLst/>
              <a:cxnLst/>
              <a:rect r="r" b="b" t="t" l="l"/>
              <a:pathLst>
                <a:path h="3764153" w="1060411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0544302" y="0"/>
                  </a:lnTo>
                  <a:cubicBezTo>
                    <a:pt x="10577322" y="0"/>
                    <a:pt x="10604119" y="26797"/>
                    <a:pt x="10604119" y="59817"/>
                  </a:cubicBezTo>
                  <a:lnTo>
                    <a:pt x="10604119" y="3704336"/>
                  </a:lnTo>
                  <a:cubicBezTo>
                    <a:pt x="10604119" y="3737356"/>
                    <a:pt x="10577322" y="3764153"/>
                    <a:pt x="10544302" y="3764153"/>
                  </a:cubicBezTo>
                  <a:lnTo>
                    <a:pt x="59817" y="3764153"/>
                  </a:lnTo>
                  <a:cubicBezTo>
                    <a:pt x="26797" y="3764153"/>
                    <a:pt x="0" y="3737356"/>
                    <a:pt x="0" y="3704336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44959" y="6905034"/>
            <a:ext cx="896693" cy="896693"/>
            <a:chOff x="0" y="0"/>
            <a:chExt cx="1195591" cy="11955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95578" cy="1195578"/>
            </a:xfrm>
            <a:custGeom>
              <a:avLst/>
              <a:gdLst/>
              <a:ahLst/>
              <a:cxnLst/>
              <a:rect r="r" b="b" t="t" l="l"/>
              <a:pathLst>
                <a:path h="1195578" w="1195578">
                  <a:moveTo>
                    <a:pt x="0" y="597789"/>
                  </a:moveTo>
                  <a:cubicBezTo>
                    <a:pt x="0" y="267589"/>
                    <a:pt x="267589" y="0"/>
                    <a:pt x="597789" y="0"/>
                  </a:cubicBezTo>
                  <a:cubicBezTo>
                    <a:pt x="927989" y="0"/>
                    <a:pt x="1195578" y="267589"/>
                    <a:pt x="1195578" y="597789"/>
                  </a:cubicBezTo>
                  <a:cubicBezTo>
                    <a:pt x="1195578" y="927989"/>
                    <a:pt x="927989" y="1195578"/>
                    <a:pt x="597789" y="1195578"/>
                  </a:cubicBezTo>
                  <a:cubicBezTo>
                    <a:pt x="267589" y="1195578"/>
                    <a:pt x="0" y="927989"/>
                    <a:pt x="0" y="597789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591570" y="7151637"/>
            <a:ext cx="403469" cy="403469"/>
          </a:xfrm>
          <a:custGeom>
            <a:avLst/>
            <a:gdLst/>
            <a:ahLst/>
            <a:cxnLst/>
            <a:rect r="r" b="b" t="t" l="l"/>
            <a:pathLst>
              <a:path h="403469" w="403469">
                <a:moveTo>
                  <a:pt x="0" y="0"/>
                </a:moveTo>
                <a:lnTo>
                  <a:pt x="403470" y="0"/>
                </a:lnTo>
                <a:lnTo>
                  <a:pt x="403470" y="403469"/>
                </a:lnTo>
                <a:lnTo>
                  <a:pt x="0" y="4034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3954" r="0" b="-13954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44959" y="8072142"/>
            <a:ext cx="3396558" cy="443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Face Restoration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4959" y="8622659"/>
            <a:ext cx="7355386" cy="507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3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GFPGAN v1.4 facial feature reconstruction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88656" y="6606178"/>
            <a:ext cx="7953223" cy="2823124"/>
            <a:chOff x="0" y="0"/>
            <a:chExt cx="10604297" cy="37641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04374" cy="3764153"/>
            </a:xfrm>
            <a:custGeom>
              <a:avLst/>
              <a:gdLst/>
              <a:ahLst/>
              <a:cxnLst/>
              <a:rect r="r" b="b" t="t" l="l"/>
              <a:pathLst>
                <a:path h="3764153" w="10604374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0544556" y="0"/>
                  </a:lnTo>
                  <a:cubicBezTo>
                    <a:pt x="10577576" y="0"/>
                    <a:pt x="10604374" y="26797"/>
                    <a:pt x="10604374" y="59817"/>
                  </a:cubicBezTo>
                  <a:lnTo>
                    <a:pt x="10604374" y="3704336"/>
                  </a:lnTo>
                  <a:cubicBezTo>
                    <a:pt x="10604374" y="3737356"/>
                    <a:pt x="10577576" y="3764153"/>
                    <a:pt x="10544556" y="3764153"/>
                  </a:cubicBezTo>
                  <a:lnTo>
                    <a:pt x="59817" y="3764153"/>
                  </a:lnTo>
                  <a:cubicBezTo>
                    <a:pt x="26797" y="3764153"/>
                    <a:pt x="0" y="3737356"/>
                    <a:pt x="0" y="3704336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587513" y="6905034"/>
            <a:ext cx="896693" cy="896693"/>
            <a:chOff x="0" y="0"/>
            <a:chExt cx="1195591" cy="11955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95578" cy="1195578"/>
            </a:xfrm>
            <a:custGeom>
              <a:avLst/>
              <a:gdLst/>
              <a:ahLst/>
              <a:cxnLst/>
              <a:rect r="r" b="b" t="t" l="l"/>
              <a:pathLst>
                <a:path h="1195578" w="1195578">
                  <a:moveTo>
                    <a:pt x="0" y="597789"/>
                  </a:moveTo>
                  <a:cubicBezTo>
                    <a:pt x="0" y="267589"/>
                    <a:pt x="267589" y="0"/>
                    <a:pt x="597789" y="0"/>
                  </a:cubicBezTo>
                  <a:cubicBezTo>
                    <a:pt x="927989" y="0"/>
                    <a:pt x="1195578" y="267589"/>
                    <a:pt x="1195578" y="597789"/>
                  </a:cubicBezTo>
                  <a:cubicBezTo>
                    <a:pt x="1195578" y="927989"/>
                    <a:pt x="927989" y="1195578"/>
                    <a:pt x="597789" y="1195578"/>
                  </a:cubicBezTo>
                  <a:cubicBezTo>
                    <a:pt x="267589" y="1195578"/>
                    <a:pt x="0" y="927989"/>
                    <a:pt x="0" y="597789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9834115" y="7151637"/>
            <a:ext cx="403469" cy="403469"/>
          </a:xfrm>
          <a:custGeom>
            <a:avLst/>
            <a:gdLst/>
            <a:ahLst/>
            <a:cxnLst/>
            <a:rect r="r" b="b" t="t" l="l"/>
            <a:pathLst>
              <a:path h="403469" w="403469">
                <a:moveTo>
                  <a:pt x="0" y="0"/>
                </a:moveTo>
                <a:lnTo>
                  <a:pt x="403469" y="0"/>
                </a:lnTo>
                <a:lnTo>
                  <a:pt x="403469" y="403469"/>
                </a:lnTo>
                <a:lnTo>
                  <a:pt x="0" y="4034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465" r="0" b="-10465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587513" y="8072142"/>
            <a:ext cx="3554016" cy="443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Evidence Extraction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87513" y="8622659"/>
            <a:ext cx="7355529" cy="507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3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YOLOv8 detection + EasyOCR text recovery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642292" y="658263"/>
            <a:ext cx="11991384" cy="607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37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Architecture: The Enhancement Pipeline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642292" y="1544688"/>
            <a:ext cx="13003263" cy="5616626"/>
            <a:chOff x="0" y="0"/>
            <a:chExt cx="17337684" cy="748883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7337660" cy="7488809"/>
            </a:xfrm>
            <a:custGeom>
              <a:avLst/>
              <a:gdLst/>
              <a:ahLst/>
              <a:cxnLst/>
              <a:rect r="r" b="b" t="t" l="l"/>
              <a:pathLst>
                <a:path h="7488809" w="17337660">
                  <a:moveTo>
                    <a:pt x="0" y="0"/>
                  </a:moveTo>
                  <a:lnTo>
                    <a:pt x="17337660" y="0"/>
                  </a:lnTo>
                  <a:lnTo>
                    <a:pt x="17337660" y="7488809"/>
                  </a:lnTo>
                  <a:lnTo>
                    <a:pt x="0" y="7488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4" r="0" b="-3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745242" y="5433593"/>
            <a:ext cx="1930737" cy="64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Frame Extraction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45242" y="6201404"/>
            <a:ext cx="1930737" cy="45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Smart sampling of key frames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02862" y="5433593"/>
            <a:ext cx="1930727" cy="64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GFPGAN Restoration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02862" y="6201404"/>
            <a:ext cx="1930727" cy="45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Face-aware enhancement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72590" y="2041969"/>
            <a:ext cx="1930727" cy="32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Input Video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72590" y="2490178"/>
            <a:ext cx="1930727" cy="45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Source feeds (H.264, H.265, MJPEG)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01866" y="2041969"/>
            <a:ext cx="1930727" cy="64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Enhanced Output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01866" y="2809780"/>
            <a:ext cx="1930727" cy="45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High-quality restored frames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54822" y="2041969"/>
            <a:ext cx="1930727" cy="64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RealESRGAN Upscaling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54822" y="2809780"/>
            <a:ext cx="1930727" cy="45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Progressive x2/x4 super-resolution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42292" y="7437987"/>
            <a:ext cx="2871492" cy="607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8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Stage 1: Frame Extraction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42292" y="8175431"/>
            <a:ext cx="2871492" cy="1308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Smart sampling identifies key frames while minimizing redundant processing. Handles multiple codecs (H.264, H.265, MJPEG).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29030" y="7437987"/>
            <a:ext cx="2871492" cy="607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8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Stage 2: RealESRGAN Upscaling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29030" y="8175431"/>
            <a:ext cx="2871492" cy="1308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Progressive x2 or x4 super-resolution with texture hallucination. Recovers high-frequency details through deep feature learning.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15758" y="7437987"/>
            <a:ext cx="2871492" cy="607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8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Stage 3: GFPGAN Restoration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15758" y="8175431"/>
            <a:ext cx="2871492" cy="104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Blind face restoration reconstructs identifiable features from severely degraded pixels using facial priors.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02495" y="7437987"/>
            <a:ext cx="2871492" cy="607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8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Stage 4: Output Generation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02495" y="8175431"/>
            <a:ext cx="2871492" cy="104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Lossless encoding preserves enhancement quality. Metadata embedding for chain-of-custody documentation.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2132" y="760962"/>
            <a:ext cx="6573593" cy="8764934"/>
            <a:chOff x="0" y="0"/>
            <a:chExt cx="8764791" cy="1168657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64778" cy="11686540"/>
            </a:xfrm>
            <a:custGeom>
              <a:avLst/>
              <a:gdLst/>
              <a:ahLst/>
              <a:cxnLst/>
              <a:rect r="r" b="b" t="t" l="l"/>
              <a:pathLst>
                <a:path h="11686540" w="8764778">
                  <a:moveTo>
                    <a:pt x="0" y="0"/>
                  </a:moveTo>
                  <a:lnTo>
                    <a:pt x="8764778" y="0"/>
                  </a:lnTo>
                  <a:lnTo>
                    <a:pt x="8764778" y="11686540"/>
                  </a:lnTo>
                  <a:lnTo>
                    <a:pt x="0" y="11686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" t="0" r="-3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3515" y="808882"/>
            <a:ext cx="9438980" cy="164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Super-Resolution Engine: RealESRGAN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34465" y="2827887"/>
            <a:ext cx="9477080" cy="2064248"/>
            <a:chOff x="0" y="0"/>
            <a:chExt cx="12636106" cy="27523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12585192" cy="2701544"/>
            </a:xfrm>
            <a:custGeom>
              <a:avLst/>
              <a:gdLst/>
              <a:ahLst/>
              <a:cxnLst/>
              <a:rect r="r" b="b" t="t" l="l"/>
              <a:pathLst>
                <a:path h="2701544" w="12585192">
                  <a:moveTo>
                    <a:pt x="0" y="243840"/>
                  </a:moveTo>
                  <a:cubicBezTo>
                    <a:pt x="0" y="109220"/>
                    <a:pt x="110744" y="0"/>
                    <a:pt x="247396" y="0"/>
                  </a:cubicBezTo>
                  <a:lnTo>
                    <a:pt x="12337796" y="0"/>
                  </a:lnTo>
                  <a:cubicBezTo>
                    <a:pt x="12474448" y="0"/>
                    <a:pt x="12585192" y="109220"/>
                    <a:pt x="12585192" y="243840"/>
                  </a:cubicBezTo>
                  <a:lnTo>
                    <a:pt x="12585192" y="2457704"/>
                  </a:lnTo>
                  <a:cubicBezTo>
                    <a:pt x="12585192" y="2592324"/>
                    <a:pt x="12474448" y="2701544"/>
                    <a:pt x="12337796" y="2701544"/>
                  </a:cubicBezTo>
                  <a:lnTo>
                    <a:pt x="247396" y="2701544"/>
                  </a:lnTo>
                  <a:cubicBezTo>
                    <a:pt x="110744" y="2701544"/>
                    <a:pt x="0" y="2592324"/>
                    <a:pt x="0" y="24577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35992" cy="2752344"/>
            </a:xfrm>
            <a:custGeom>
              <a:avLst/>
              <a:gdLst/>
              <a:ahLst/>
              <a:cxnLst/>
              <a:rect r="r" b="b" t="t" l="l"/>
              <a:pathLst>
                <a:path h="2752344" w="12635992">
                  <a:moveTo>
                    <a:pt x="0" y="269240"/>
                  </a:moveTo>
                  <a:cubicBezTo>
                    <a:pt x="0" y="120142"/>
                    <a:pt x="122555" y="0"/>
                    <a:pt x="272796" y="0"/>
                  </a:cubicBezTo>
                  <a:lnTo>
                    <a:pt x="12363196" y="0"/>
                  </a:lnTo>
                  <a:lnTo>
                    <a:pt x="12363196" y="25400"/>
                  </a:lnTo>
                  <a:lnTo>
                    <a:pt x="12363196" y="0"/>
                  </a:lnTo>
                  <a:cubicBezTo>
                    <a:pt x="12513564" y="0"/>
                    <a:pt x="12635992" y="120142"/>
                    <a:pt x="12635992" y="269240"/>
                  </a:cubicBezTo>
                  <a:lnTo>
                    <a:pt x="12610592" y="269240"/>
                  </a:lnTo>
                  <a:lnTo>
                    <a:pt x="12635992" y="269240"/>
                  </a:lnTo>
                  <a:lnTo>
                    <a:pt x="12635992" y="2483104"/>
                  </a:lnTo>
                  <a:lnTo>
                    <a:pt x="12610592" y="2483104"/>
                  </a:lnTo>
                  <a:lnTo>
                    <a:pt x="12635992" y="2483104"/>
                  </a:lnTo>
                  <a:cubicBezTo>
                    <a:pt x="12635992" y="2632202"/>
                    <a:pt x="12513437" y="2752344"/>
                    <a:pt x="12363196" y="2752344"/>
                  </a:cubicBezTo>
                  <a:lnTo>
                    <a:pt x="12363196" y="2726944"/>
                  </a:lnTo>
                  <a:lnTo>
                    <a:pt x="12363196" y="2752344"/>
                  </a:lnTo>
                  <a:lnTo>
                    <a:pt x="272796" y="2752344"/>
                  </a:lnTo>
                  <a:lnTo>
                    <a:pt x="272796" y="2726944"/>
                  </a:lnTo>
                  <a:lnTo>
                    <a:pt x="272796" y="2752344"/>
                  </a:lnTo>
                  <a:cubicBezTo>
                    <a:pt x="122555" y="2752344"/>
                    <a:pt x="0" y="2632075"/>
                    <a:pt x="0" y="248310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483104"/>
                  </a:lnTo>
                  <a:lnTo>
                    <a:pt x="25400" y="2483104"/>
                  </a:lnTo>
                  <a:lnTo>
                    <a:pt x="50800" y="2483104"/>
                  </a:lnTo>
                  <a:cubicBezTo>
                    <a:pt x="50800" y="2603373"/>
                    <a:pt x="149860" y="2701544"/>
                    <a:pt x="272796" y="2701544"/>
                  </a:cubicBezTo>
                  <a:lnTo>
                    <a:pt x="12363196" y="2701544"/>
                  </a:lnTo>
                  <a:cubicBezTo>
                    <a:pt x="12486132" y="2701544"/>
                    <a:pt x="12585192" y="2603373"/>
                    <a:pt x="12585192" y="2483104"/>
                  </a:cubicBezTo>
                  <a:lnTo>
                    <a:pt x="12585192" y="269240"/>
                  </a:lnTo>
                  <a:cubicBezTo>
                    <a:pt x="12585192" y="148971"/>
                    <a:pt x="12486132" y="50800"/>
                    <a:pt x="12363196" y="50800"/>
                  </a:cubicBezTo>
                  <a:lnTo>
                    <a:pt x="272796" y="50800"/>
                  </a:lnTo>
                  <a:lnTo>
                    <a:pt x="272796" y="25400"/>
                  </a:lnTo>
                  <a:lnTo>
                    <a:pt x="272796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15415" y="2846937"/>
            <a:ext cx="152400" cy="2026148"/>
            <a:chOff x="0" y="0"/>
            <a:chExt cx="203200" cy="27015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3200" cy="2701544"/>
            </a:xfrm>
            <a:custGeom>
              <a:avLst/>
              <a:gdLst/>
              <a:ahLst/>
              <a:cxnLst/>
              <a:rect r="r" b="b" t="t" l="l"/>
              <a:pathLst>
                <a:path h="2701544" w="203200">
                  <a:moveTo>
                    <a:pt x="0" y="56896"/>
                  </a:moveTo>
                  <a:cubicBezTo>
                    <a:pt x="0" y="25527"/>
                    <a:pt x="25527" y="0"/>
                    <a:pt x="56896" y="0"/>
                  </a:cubicBezTo>
                  <a:lnTo>
                    <a:pt x="146304" y="0"/>
                  </a:lnTo>
                  <a:cubicBezTo>
                    <a:pt x="177673" y="0"/>
                    <a:pt x="203200" y="25527"/>
                    <a:pt x="203200" y="56896"/>
                  </a:cubicBezTo>
                  <a:lnTo>
                    <a:pt x="203200" y="2644648"/>
                  </a:lnTo>
                  <a:cubicBezTo>
                    <a:pt x="203200" y="2676017"/>
                    <a:pt x="177673" y="2701544"/>
                    <a:pt x="146304" y="2701544"/>
                  </a:cubicBezTo>
                  <a:lnTo>
                    <a:pt x="56896" y="2701544"/>
                  </a:lnTo>
                  <a:cubicBezTo>
                    <a:pt x="25527" y="2701544"/>
                    <a:pt x="0" y="2676017"/>
                    <a:pt x="0" y="2644648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290322" y="3169444"/>
            <a:ext cx="3232099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90322" y="3673678"/>
            <a:ext cx="8679656" cy="87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GAN-based network with U-Net skip connections and residual-in-residual dense blocks for multi-scale feature extraction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34465" y="5116116"/>
            <a:ext cx="9477080" cy="2064248"/>
            <a:chOff x="0" y="0"/>
            <a:chExt cx="12636106" cy="27523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00" y="25400"/>
              <a:ext cx="12585192" cy="2701544"/>
            </a:xfrm>
            <a:custGeom>
              <a:avLst/>
              <a:gdLst/>
              <a:ahLst/>
              <a:cxnLst/>
              <a:rect r="r" b="b" t="t" l="l"/>
              <a:pathLst>
                <a:path h="2701544" w="12585192">
                  <a:moveTo>
                    <a:pt x="0" y="243840"/>
                  </a:moveTo>
                  <a:cubicBezTo>
                    <a:pt x="0" y="109220"/>
                    <a:pt x="110744" y="0"/>
                    <a:pt x="247396" y="0"/>
                  </a:cubicBezTo>
                  <a:lnTo>
                    <a:pt x="12337796" y="0"/>
                  </a:lnTo>
                  <a:cubicBezTo>
                    <a:pt x="12474448" y="0"/>
                    <a:pt x="12585192" y="109220"/>
                    <a:pt x="12585192" y="243840"/>
                  </a:cubicBezTo>
                  <a:lnTo>
                    <a:pt x="12585192" y="2457704"/>
                  </a:lnTo>
                  <a:cubicBezTo>
                    <a:pt x="12585192" y="2592324"/>
                    <a:pt x="12474448" y="2701544"/>
                    <a:pt x="12337796" y="2701544"/>
                  </a:cubicBezTo>
                  <a:lnTo>
                    <a:pt x="247396" y="2701544"/>
                  </a:lnTo>
                  <a:cubicBezTo>
                    <a:pt x="110744" y="2701544"/>
                    <a:pt x="0" y="2592324"/>
                    <a:pt x="0" y="24577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35992" cy="2752344"/>
            </a:xfrm>
            <a:custGeom>
              <a:avLst/>
              <a:gdLst/>
              <a:ahLst/>
              <a:cxnLst/>
              <a:rect r="r" b="b" t="t" l="l"/>
              <a:pathLst>
                <a:path h="2752344" w="12635992">
                  <a:moveTo>
                    <a:pt x="0" y="269240"/>
                  </a:moveTo>
                  <a:cubicBezTo>
                    <a:pt x="0" y="120142"/>
                    <a:pt x="122555" y="0"/>
                    <a:pt x="272796" y="0"/>
                  </a:cubicBezTo>
                  <a:lnTo>
                    <a:pt x="12363196" y="0"/>
                  </a:lnTo>
                  <a:lnTo>
                    <a:pt x="12363196" y="25400"/>
                  </a:lnTo>
                  <a:lnTo>
                    <a:pt x="12363196" y="0"/>
                  </a:lnTo>
                  <a:cubicBezTo>
                    <a:pt x="12513564" y="0"/>
                    <a:pt x="12635992" y="120142"/>
                    <a:pt x="12635992" y="269240"/>
                  </a:cubicBezTo>
                  <a:lnTo>
                    <a:pt x="12610592" y="269240"/>
                  </a:lnTo>
                  <a:lnTo>
                    <a:pt x="12635992" y="269240"/>
                  </a:lnTo>
                  <a:lnTo>
                    <a:pt x="12635992" y="2483104"/>
                  </a:lnTo>
                  <a:lnTo>
                    <a:pt x="12610592" y="2483104"/>
                  </a:lnTo>
                  <a:lnTo>
                    <a:pt x="12635992" y="2483104"/>
                  </a:lnTo>
                  <a:cubicBezTo>
                    <a:pt x="12635992" y="2632202"/>
                    <a:pt x="12513437" y="2752344"/>
                    <a:pt x="12363196" y="2752344"/>
                  </a:cubicBezTo>
                  <a:lnTo>
                    <a:pt x="12363196" y="2726944"/>
                  </a:lnTo>
                  <a:lnTo>
                    <a:pt x="12363196" y="2752344"/>
                  </a:lnTo>
                  <a:lnTo>
                    <a:pt x="272796" y="2752344"/>
                  </a:lnTo>
                  <a:lnTo>
                    <a:pt x="272796" y="2726944"/>
                  </a:lnTo>
                  <a:lnTo>
                    <a:pt x="272796" y="2752344"/>
                  </a:lnTo>
                  <a:cubicBezTo>
                    <a:pt x="122555" y="2752344"/>
                    <a:pt x="0" y="2632075"/>
                    <a:pt x="0" y="248310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483104"/>
                  </a:lnTo>
                  <a:lnTo>
                    <a:pt x="25400" y="2483104"/>
                  </a:lnTo>
                  <a:lnTo>
                    <a:pt x="50800" y="2483104"/>
                  </a:lnTo>
                  <a:cubicBezTo>
                    <a:pt x="50800" y="2603373"/>
                    <a:pt x="149860" y="2701544"/>
                    <a:pt x="272796" y="2701544"/>
                  </a:cubicBezTo>
                  <a:lnTo>
                    <a:pt x="12363196" y="2701544"/>
                  </a:lnTo>
                  <a:cubicBezTo>
                    <a:pt x="12486132" y="2701544"/>
                    <a:pt x="12585192" y="2603373"/>
                    <a:pt x="12585192" y="2483104"/>
                  </a:cubicBezTo>
                  <a:lnTo>
                    <a:pt x="12585192" y="269240"/>
                  </a:lnTo>
                  <a:cubicBezTo>
                    <a:pt x="12585192" y="148971"/>
                    <a:pt x="12486132" y="50800"/>
                    <a:pt x="12363196" y="50800"/>
                  </a:cubicBezTo>
                  <a:lnTo>
                    <a:pt x="272796" y="50800"/>
                  </a:lnTo>
                  <a:lnTo>
                    <a:pt x="272796" y="25400"/>
                  </a:lnTo>
                  <a:lnTo>
                    <a:pt x="272796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815415" y="5135166"/>
            <a:ext cx="152400" cy="2026148"/>
            <a:chOff x="0" y="0"/>
            <a:chExt cx="203200" cy="27015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3200" cy="2701544"/>
            </a:xfrm>
            <a:custGeom>
              <a:avLst/>
              <a:gdLst/>
              <a:ahLst/>
              <a:cxnLst/>
              <a:rect r="r" b="b" t="t" l="l"/>
              <a:pathLst>
                <a:path h="2701544" w="203200">
                  <a:moveTo>
                    <a:pt x="0" y="56896"/>
                  </a:moveTo>
                  <a:cubicBezTo>
                    <a:pt x="0" y="25527"/>
                    <a:pt x="25527" y="0"/>
                    <a:pt x="56896" y="0"/>
                  </a:cubicBezTo>
                  <a:lnTo>
                    <a:pt x="146304" y="0"/>
                  </a:lnTo>
                  <a:cubicBezTo>
                    <a:pt x="177673" y="0"/>
                    <a:pt x="203200" y="25527"/>
                    <a:pt x="203200" y="56896"/>
                  </a:cubicBezTo>
                  <a:lnTo>
                    <a:pt x="203200" y="2644648"/>
                  </a:lnTo>
                  <a:cubicBezTo>
                    <a:pt x="203200" y="2676017"/>
                    <a:pt x="177673" y="2701544"/>
                    <a:pt x="146304" y="2701544"/>
                  </a:cubicBezTo>
                  <a:lnTo>
                    <a:pt x="56896" y="2701544"/>
                  </a:lnTo>
                  <a:cubicBezTo>
                    <a:pt x="25527" y="2701544"/>
                    <a:pt x="0" y="2676017"/>
                    <a:pt x="0" y="2644648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290322" y="5457673"/>
            <a:ext cx="3232099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Upscaling Factors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90322" y="5961907"/>
            <a:ext cx="8679656" cy="87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Configurable x2 or x4 magnification with adaptive noise suppression and texture generation from learned priors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834465" y="7404344"/>
            <a:ext cx="9477080" cy="2064248"/>
            <a:chOff x="0" y="0"/>
            <a:chExt cx="12636106" cy="27523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5400" y="25400"/>
              <a:ext cx="12585192" cy="2701544"/>
            </a:xfrm>
            <a:custGeom>
              <a:avLst/>
              <a:gdLst/>
              <a:ahLst/>
              <a:cxnLst/>
              <a:rect r="r" b="b" t="t" l="l"/>
              <a:pathLst>
                <a:path h="2701544" w="12585192">
                  <a:moveTo>
                    <a:pt x="0" y="243840"/>
                  </a:moveTo>
                  <a:cubicBezTo>
                    <a:pt x="0" y="109220"/>
                    <a:pt x="110744" y="0"/>
                    <a:pt x="247396" y="0"/>
                  </a:cubicBezTo>
                  <a:lnTo>
                    <a:pt x="12337796" y="0"/>
                  </a:lnTo>
                  <a:cubicBezTo>
                    <a:pt x="12474448" y="0"/>
                    <a:pt x="12585192" y="109220"/>
                    <a:pt x="12585192" y="243840"/>
                  </a:cubicBezTo>
                  <a:lnTo>
                    <a:pt x="12585192" y="2457704"/>
                  </a:lnTo>
                  <a:cubicBezTo>
                    <a:pt x="12585192" y="2592324"/>
                    <a:pt x="12474448" y="2701544"/>
                    <a:pt x="12337796" y="2701544"/>
                  </a:cubicBezTo>
                  <a:lnTo>
                    <a:pt x="247396" y="2701544"/>
                  </a:lnTo>
                  <a:cubicBezTo>
                    <a:pt x="110744" y="2701544"/>
                    <a:pt x="0" y="2592324"/>
                    <a:pt x="0" y="24577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635992" cy="2752344"/>
            </a:xfrm>
            <a:custGeom>
              <a:avLst/>
              <a:gdLst/>
              <a:ahLst/>
              <a:cxnLst/>
              <a:rect r="r" b="b" t="t" l="l"/>
              <a:pathLst>
                <a:path h="2752344" w="12635992">
                  <a:moveTo>
                    <a:pt x="0" y="269240"/>
                  </a:moveTo>
                  <a:cubicBezTo>
                    <a:pt x="0" y="120142"/>
                    <a:pt x="122555" y="0"/>
                    <a:pt x="272796" y="0"/>
                  </a:cubicBezTo>
                  <a:lnTo>
                    <a:pt x="12363196" y="0"/>
                  </a:lnTo>
                  <a:lnTo>
                    <a:pt x="12363196" y="25400"/>
                  </a:lnTo>
                  <a:lnTo>
                    <a:pt x="12363196" y="0"/>
                  </a:lnTo>
                  <a:cubicBezTo>
                    <a:pt x="12513564" y="0"/>
                    <a:pt x="12635992" y="120142"/>
                    <a:pt x="12635992" y="269240"/>
                  </a:cubicBezTo>
                  <a:lnTo>
                    <a:pt x="12610592" y="269240"/>
                  </a:lnTo>
                  <a:lnTo>
                    <a:pt x="12635992" y="269240"/>
                  </a:lnTo>
                  <a:lnTo>
                    <a:pt x="12635992" y="2483104"/>
                  </a:lnTo>
                  <a:lnTo>
                    <a:pt x="12610592" y="2483104"/>
                  </a:lnTo>
                  <a:lnTo>
                    <a:pt x="12635992" y="2483104"/>
                  </a:lnTo>
                  <a:cubicBezTo>
                    <a:pt x="12635992" y="2632202"/>
                    <a:pt x="12513437" y="2752344"/>
                    <a:pt x="12363196" y="2752344"/>
                  </a:cubicBezTo>
                  <a:lnTo>
                    <a:pt x="12363196" y="2726944"/>
                  </a:lnTo>
                  <a:lnTo>
                    <a:pt x="12363196" y="2752344"/>
                  </a:lnTo>
                  <a:lnTo>
                    <a:pt x="272796" y="2752344"/>
                  </a:lnTo>
                  <a:lnTo>
                    <a:pt x="272796" y="2726944"/>
                  </a:lnTo>
                  <a:lnTo>
                    <a:pt x="272796" y="2752344"/>
                  </a:lnTo>
                  <a:cubicBezTo>
                    <a:pt x="122555" y="2752344"/>
                    <a:pt x="0" y="2632075"/>
                    <a:pt x="0" y="248310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483104"/>
                  </a:lnTo>
                  <a:lnTo>
                    <a:pt x="25400" y="2483104"/>
                  </a:lnTo>
                  <a:lnTo>
                    <a:pt x="50800" y="2483104"/>
                  </a:lnTo>
                  <a:cubicBezTo>
                    <a:pt x="50800" y="2603373"/>
                    <a:pt x="149860" y="2701544"/>
                    <a:pt x="272796" y="2701544"/>
                  </a:cubicBezTo>
                  <a:lnTo>
                    <a:pt x="12363196" y="2701544"/>
                  </a:lnTo>
                  <a:cubicBezTo>
                    <a:pt x="12486132" y="2701544"/>
                    <a:pt x="12585192" y="2603373"/>
                    <a:pt x="12585192" y="2483104"/>
                  </a:cubicBezTo>
                  <a:lnTo>
                    <a:pt x="12585192" y="269240"/>
                  </a:lnTo>
                  <a:cubicBezTo>
                    <a:pt x="12585192" y="148971"/>
                    <a:pt x="12486132" y="50800"/>
                    <a:pt x="12363196" y="50800"/>
                  </a:cubicBezTo>
                  <a:lnTo>
                    <a:pt x="272796" y="50800"/>
                  </a:lnTo>
                  <a:lnTo>
                    <a:pt x="272796" y="25400"/>
                  </a:lnTo>
                  <a:lnTo>
                    <a:pt x="272796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815415" y="7423394"/>
            <a:ext cx="152400" cy="2026148"/>
            <a:chOff x="0" y="0"/>
            <a:chExt cx="203200" cy="27015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3200" cy="2701544"/>
            </a:xfrm>
            <a:custGeom>
              <a:avLst/>
              <a:gdLst/>
              <a:ahLst/>
              <a:cxnLst/>
              <a:rect r="r" b="b" t="t" l="l"/>
              <a:pathLst>
                <a:path h="2701544" w="203200">
                  <a:moveTo>
                    <a:pt x="0" y="56896"/>
                  </a:moveTo>
                  <a:cubicBezTo>
                    <a:pt x="0" y="25527"/>
                    <a:pt x="25527" y="0"/>
                    <a:pt x="56896" y="0"/>
                  </a:cubicBezTo>
                  <a:lnTo>
                    <a:pt x="146304" y="0"/>
                  </a:lnTo>
                  <a:cubicBezTo>
                    <a:pt x="177673" y="0"/>
                    <a:pt x="203200" y="25527"/>
                    <a:pt x="203200" y="56896"/>
                  </a:cubicBezTo>
                  <a:lnTo>
                    <a:pt x="203200" y="2644648"/>
                  </a:lnTo>
                  <a:cubicBezTo>
                    <a:pt x="203200" y="2676017"/>
                    <a:pt x="177673" y="2701544"/>
                    <a:pt x="146304" y="2701544"/>
                  </a:cubicBezTo>
                  <a:lnTo>
                    <a:pt x="56896" y="2701544"/>
                  </a:lnTo>
                  <a:cubicBezTo>
                    <a:pt x="25527" y="2701544"/>
                    <a:pt x="0" y="2676017"/>
                    <a:pt x="0" y="2644648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290322" y="7745911"/>
            <a:ext cx="3626644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Texture Hallucination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290322" y="8250136"/>
            <a:ext cx="8679656" cy="87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Generates realistic high-frequency details by learning from millions of high-resolution image pairs in training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1088822"/>
            <a:ext cx="13403609" cy="91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Blind Face Restoration: GFPGAN v1.4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9744" y="3221536"/>
            <a:ext cx="3967610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9744" y="3901678"/>
            <a:ext cx="9375877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GFPGAN (Generative Facial Prior GAN) leverages facial priors learned from massive datasets to reconstruct identifiable features from heavily degraded pixels.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9744" y="5664994"/>
            <a:ext cx="3506095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Capabilities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9744" y="6345136"/>
            <a:ext cx="9375877" cy="2250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Age-invariant facial structure recovery</a:t>
            </a:r>
          </a:p>
          <a:p>
            <a:pPr algn="l" marL="579120" indent="-28956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Illumination normalization across frames</a:t>
            </a:r>
          </a:p>
          <a:p>
            <a:pPr algn="l" marL="579120" indent="-28956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Identity-preserving feature reconstruction</a:t>
            </a:r>
          </a:p>
          <a:p>
            <a:pPr algn="l" marL="579120" indent="-28956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Artifact suppression while preserving details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217916" y="2813294"/>
            <a:ext cx="5999712" cy="5999712"/>
            <a:chOff x="0" y="0"/>
            <a:chExt cx="7999616" cy="799961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7999603" cy="7999603"/>
            </a:xfrm>
            <a:custGeom>
              <a:avLst/>
              <a:gdLst/>
              <a:ahLst/>
              <a:cxnLst/>
              <a:rect r="r" b="b" t="t" l="l"/>
              <a:pathLst>
                <a:path h="7999603" w="7999603">
                  <a:moveTo>
                    <a:pt x="0" y="0"/>
                  </a:moveTo>
                  <a:lnTo>
                    <a:pt x="7999603" y="0"/>
                  </a:lnTo>
                  <a:lnTo>
                    <a:pt x="7999603" y="7999603"/>
                  </a:lnTo>
                  <a:lnTo>
                    <a:pt x="0" y="7999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2543023"/>
            <a:ext cx="11691337" cy="91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Automated Evidence Extraction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79744" y="4074766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27" t="0" r="-11729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79744" y="5222081"/>
            <a:ext cx="3506095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YOLOv8 Detection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9744" y="5778694"/>
            <a:ext cx="5119087" cy="192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Real-time object detection identifies license plates, vehicles, and persons of interest with 85%+ accuracy across varied lighting conditions.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84452" y="4074766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29" y="0"/>
                </a:lnTo>
                <a:lnTo>
                  <a:pt x="771229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7407" r="0" b="-740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84452" y="5222081"/>
            <a:ext cx="3804342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EasyOCR Integration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84452" y="5778694"/>
            <a:ext cx="5119087" cy="192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Scene text recovery extracts alphanumeric sequences from license plates, signage, and documents visible in frame.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089159" y="4074766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29" y="0"/>
                </a:lnTo>
                <a:lnTo>
                  <a:pt x="771229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8024" r="0" b="-802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089159" y="5222081"/>
            <a:ext cx="3506095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Metadata Export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89159" y="5778694"/>
            <a:ext cx="5119087" cy="192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Structured JSON output with timestamps, coordinates, and confidence scores for evidentiary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4191" y="777030"/>
            <a:ext cx="6549476" cy="8732787"/>
            <a:chOff x="0" y="0"/>
            <a:chExt cx="8732634" cy="1164371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32647" cy="11643741"/>
            </a:xfrm>
            <a:custGeom>
              <a:avLst/>
              <a:gdLst/>
              <a:ahLst/>
              <a:cxnLst/>
              <a:rect r="r" b="b" t="t" l="l"/>
              <a:pathLst>
                <a:path h="11643741" w="8732647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9744" y="883891"/>
            <a:ext cx="9270502" cy="179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Interactive User Experience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9744" y="3137887"/>
            <a:ext cx="617039" cy="385610"/>
            <a:chOff x="0" y="0"/>
            <a:chExt cx="822719" cy="5141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2723" cy="514152"/>
            </a:xfrm>
            <a:custGeom>
              <a:avLst/>
              <a:gdLst/>
              <a:ahLst/>
              <a:cxnLst/>
              <a:rect r="r" b="b" t="t" l="l"/>
              <a:pathLst>
                <a:path h="514152" w="822723">
                  <a:moveTo>
                    <a:pt x="0" y="0"/>
                  </a:moveTo>
                  <a:lnTo>
                    <a:pt x="822723" y="0"/>
                  </a:lnTo>
                  <a:lnTo>
                    <a:pt x="822723" y="514152"/>
                  </a:lnTo>
                  <a:lnTo>
                    <a:pt x="0" y="5141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0181" t="0" r="-30180" b="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822719" cy="580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3D3838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9744" y="3624110"/>
            <a:ext cx="4480922" cy="38100"/>
            <a:chOff x="0" y="0"/>
            <a:chExt cx="5974563" cy="50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74588" cy="50800"/>
            </a:xfrm>
            <a:custGeom>
              <a:avLst/>
              <a:gdLst/>
              <a:ahLst/>
              <a:cxnLst/>
              <a:rect r="r" b="b" t="t" l="l"/>
              <a:pathLst>
                <a:path h="50800" w="5974588">
                  <a:moveTo>
                    <a:pt x="0" y="0"/>
                  </a:moveTo>
                  <a:lnTo>
                    <a:pt x="5974588" y="0"/>
                  </a:lnTo>
                  <a:lnTo>
                    <a:pt x="597458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79744" y="3844976"/>
            <a:ext cx="3506095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ROI Selection Tool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9744" y="4401588"/>
            <a:ext cx="4480922" cy="192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Click-and-drag region of interest targeting specific frame areas for selective enhancement prioritization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869191" y="3137887"/>
            <a:ext cx="617039" cy="385610"/>
            <a:chOff x="0" y="0"/>
            <a:chExt cx="822719" cy="5141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2723" cy="514152"/>
            </a:xfrm>
            <a:custGeom>
              <a:avLst/>
              <a:gdLst/>
              <a:ahLst/>
              <a:cxnLst/>
              <a:rect r="r" b="b" t="t" l="l"/>
              <a:pathLst>
                <a:path h="514152" w="822723">
                  <a:moveTo>
                    <a:pt x="0" y="0"/>
                  </a:moveTo>
                  <a:lnTo>
                    <a:pt x="822723" y="0"/>
                  </a:lnTo>
                  <a:lnTo>
                    <a:pt x="822723" y="514152"/>
                  </a:lnTo>
                  <a:lnTo>
                    <a:pt x="0" y="5141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0181" t="0" r="-30180" b="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822719" cy="580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3D3838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869191" y="3624110"/>
            <a:ext cx="4481065" cy="38100"/>
            <a:chOff x="0" y="0"/>
            <a:chExt cx="5974753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74715" cy="50800"/>
            </a:xfrm>
            <a:custGeom>
              <a:avLst/>
              <a:gdLst/>
              <a:ahLst/>
              <a:cxnLst/>
              <a:rect r="r" b="b" t="t" l="l"/>
              <a:pathLst>
                <a:path h="50800" w="5974715">
                  <a:moveTo>
                    <a:pt x="0" y="0"/>
                  </a:moveTo>
                  <a:lnTo>
                    <a:pt x="5974715" y="0"/>
                  </a:lnTo>
                  <a:lnTo>
                    <a:pt x="597471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869191" y="3844976"/>
            <a:ext cx="3506095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Next.js Dashboard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69191" y="4401588"/>
            <a:ext cx="4481065" cy="192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Web-based interface with real-time progress monitoring, batch processing queues, and export management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79744" y="6868420"/>
            <a:ext cx="617039" cy="385610"/>
            <a:chOff x="0" y="0"/>
            <a:chExt cx="822719" cy="5141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723" cy="514152"/>
            </a:xfrm>
            <a:custGeom>
              <a:avLst/>
              <a:gdLst/>
              <a:ahLst/>
              <a:cxnLst/>
              <a:rect r="r" b="b" t="t" l="l"/>
              <a:pathLst>
                <a:path h="514152" w="822723">
                  <a:moveTo>
                    <a:pt x="0" y="0"/>
                  </a:moveTo>
                  <a:lnTo>
                    <a:pt x="822723" y="0"/>
                  </a:lnTo>
                  <a:lnTo>
                    <a:pt x="822723" y="514152"/>
                  </a:lnTo>
                  <a:lnTo>
                    <a:pt x="0" y="5141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0181" t="0" r="-30180" b="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822719" cy="580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3D3838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79744" y="7354643"/>
            <a:ext cx="9270502" cy="38100"/>
            <a:chOff x="0" y="0"/>
            <a:chExt cx="12360669" cy="50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360656" cy="50800"/>
            </a:xfrm>
            <a:custGeom>
              <a:avLst/>
              <a:gdLst/>
              <a:ahLst/>
              <a:cxnLst/>
              <a:rect r="r" b="b" t="t" l="l"/>
              <a:pathLst>
                <a:path h="50800" w="12360656">
                  <a:moveTo>
                    <a:pt x="0" y="0"/>
                  </a:moveTo>
                  <a:lnTo>
                    <a:pt x="12360656" y="0"/>
                  </a:lnTo>
                  <a:lnTo>
                    <a:pt x="1236065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79744" y="7575499"/>
            <a:ext cx="3506095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Quality Presets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79744" y="8132121"/>
            <a:ext cx="9270502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Configurable profiles balancing speed versus fidelity: Draft (fast), Standard (balanced), Forensic (maximum detail)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4191" y="777030"/>
            <a:ext cx="6549476" cy="8732787"/>
            <a:chOff x="0" y="0"/>
            <a:chExt cx="8732634" cy="1164371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32647" cy="11643741"/>
            </a:xfrm>
            <a:custGeom>
              <a:avLst/>
              <a:gdLst/>
              <a:ahLst/>
              <a:cxnLst/>
              <a:rect r="r" b="b" t="t" l="l"/>
              <a:pathLst>
                <a:path h="11643741" w="8732647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9744" y="1171727"/>
            <a:ext cx="9270502" cy="179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Performance &amp; VRAM Management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9744" y="3724723"/>
            <a:ext cx="3506095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GPU Acceleration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9744" y="4404865"/>
            <a:ext cx="4258866" cy="4564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CUDA-enabled inference using NVIDIA RTX architecture</a:t>
            </a:r>
          </a:p>
          <a:p>
            <a:pPr algn="l" marL="579120" indent="-28956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45+ FPS real-time processing on 4K inputs</a:t>
            </a:r>
          </a:p>
          <a:p>
            <a:pPr algn="l" marL="579120" indent="-28956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Dynamic batch sizing based on available VRAM</a:t>
            </a:r>
          </a:p>
          <a:p>
            <a:pPr algn="l" marL="579120" indent="-28956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FP16 mixed-precision training for efficiency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00915" y="3724723"/>
            <a:ext cx="3840356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Resource Monitoring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00915" y="4404865"/>
            <a:ext cx="4258866" cy="2389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NVML integration provides real-time VRAM usage tracking, preventing out-of-memory crashes during extended enhancement sessions.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1559719"/>
            <a:ext cx="9864928" cy="91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&amp; Future Scope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9744" y="3091463"/>
            <a:ext cx="5376120" cy="1234078"/>
            <a:chOff x="0" y="0"/>
            <a:chExt cx="7168159" cy="164543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168134" cy="1645412"/>
            </a:xfrm>
            <a:custGeom>
              <a:avLst/>
              <a:gdLst/>
              <a:ahLst/>
              <a:cxnLst/>
              <a:rect r="r" b="b" t="t" l="l"/>
              <a:pathLst>
                <a:path h="1645412" w="7168134">
                  <a:moveTo>
                    <a:pt x="0" y="0"/>
                  </a:moveTo>
                  <a:lnTo>
                    <a:pt x="7168134" y="0"/>
                  </a:lnTo>
                  <a:lnTo>
                    <a:pt x="7168134" y="1645412"/>
                  </a:lnTo>
                  <a:lnTo>
                    <a:pt x="0" y="1645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6" r="0" b="-20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88269" y="4624540"/>
            <a:ext cx="3506095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Current Impact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8269" y="5181152"/>
            <a:ext cx="4759081" cy="192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Deployed in 12 law enforcement agencies for evidentiary enhancement and suspect identification workflows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55864" y="3091463"/>
            <a:ext cx="5376120" cy="1234078"/>
            <a:chOff x="0" y="0"/>
            <a:chExt cx="7168159" cy="164543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7168134" cy="1645412"/>
            </a:xfrm>
            <a:custGeom>
              <a:avLst/>
              <a:gdLst/>
              <a:ahLst/>
              <a:cxnLst/>
              <a:rect r="r" b="b" t="t" l="l"/>
              <a:pathLst>
                <a:path h="1645412" w="7168134">
                  <a:moveTo>
                    <a:pt x="0" y="0"/>
                  </a:moveTo>
                  <a:lnTo>
                    <a:pt x="7168134" y="0"/>
                  </a:lnTo>
                  <a:lnTo>
                    <a:pt x="7168134" y="1645412"/>
                  </a:lnTo>
                  <a:lnTo>
                    <a:pt x="0" y="1645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6" r="0" b="-20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764388" y="4624540"/>
            <a:ext cx="3506095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Cloud Scaling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64388" y="5181152"/>
            <a:ext cx="4759081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Containerized Docker deployment with Kubernetes orchestration for distributed processing clusters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831984" y="3091463"/>
            <a:ext cx="5376272" cy="1234078"/>
            <a:chOff x="0" y="0"/>
            <a:chExt cx="7168363" cy="164543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168388" cy="1645412"/>
            </a:xfrm>
            <a:custGeom>
              <a:avLst/>
              <a:gdLst/>
              <a:ahLst/>
              <a:cxnLst/>
              <a:rect r="r" b="b" t="t" l="l"/>
              <a:pathLst>
                <a:path h="1645412" w="7168388">
                  <a:moveTo>
                    <a:pt x="0" y="0"/>
                  </a:moveTo>
                  <a:lnTo>
                    <a:pt x="7168388" y="0"/>
                  </a:lnTo>
                  <a:lnTo>
                    <a:pt x="7168388" y="1645412"/>
                  </a:lnTo>
                  <a:lnTo>
                    <a:pt x="0" y="1645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7" r="0" b="-209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140508" y="4624540"/>
            <a:ext cx="4406055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Temporal Enhancement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40508" y="5181152"/>
            <a:ext cx="4759223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BasicVSR++ integration for frame interpolation and motion-compensated video restoration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9744" y="7687570"/>
            <a:ext cx="16128502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ClarityAI represents the next generation of forensic video intelligence—transforming previously unusable footage into actionable investigative leads through AI-powered enhancement.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DAHIyVoiEQc</dc:identifier>
  <dcterms:modified xsi:type="dcterms:W3CDTF">2011-08-01T06:04:30Z</dcterms:modified>
  <cp:revision>1</cp:revision>
  <dc:title>ClarityAI-Redefining-Forensic-Video-Intelligence.pptx</dc:title>
</cp:coreProperties>
</file>